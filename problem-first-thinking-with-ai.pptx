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1A0033"/>
              </a:gs>
              <a:gs pos="100000">
                <a:srgbClr val="3D0A5C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601200" y="-731520"/>
            <a:ext cx="3200400" cy="3200400"/>
          </a:xfrm>
          <a:prstGeom prst="ellipse">
            <a:avLst/>
          </a:prstGeom>
          <a:solidFill>
            <a:srgbClr val="3A10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097280" y="4572000"/>
            <a:ext cx="3657600" cy="3657600"/>
          </a:xfrm>
          <a:prstGeom prst="ellipse">
            <a:avLst/>
          </a:prstGeom>
          <a:solidFill>
            <a:srgbClr val="2E0E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05A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41148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>
                <a:solidFill>
                  <a:srgbClr val="FFFFFF"/>
                </a:solidFill>
              </a:rPr>
              <a:t>Problem-First Thinking</a:t>
            </a:r>
            <a:r>
              <a:rPr sz="3800" b="1">
                <a:solidFill>
                  <a:srgbClr val="E05A9E"/>
                </a:solidFill>
              </a:rPr>
              <a:t>  with AI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1430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i="1">
                <a:solidFill>
                  <a:srgbClr val="E8DEF0"/>
                </a:solidFill>
              </a:rPr>
              <a:t>A new approach where the problem drives every decision — not the framework, not the trend.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011680"/>
            <a:ext cx="3383280" cy="2377440"/>
          </a:xfrm>
          <a:prstGeom prst="roundRect">
            <a:avLst/>
          </a:prstGeom>
          <a:solidFill>
            <a:srgbClr val="2A0A40"/>
          </a:solidFill>
          <a:ln w="12700">
            <a:solidFill>
              <a:srgbClr val="5A2A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05840" y="2286000"/>
            <a:ext cx="594360" cy="594360"/>
          </a:xfrm>
          <a:prstGeom prst="ellipse">
            <a:avLst/>
          </a:prstGeom>
          <a:solidFill>
            <a:srgbClr val="9D4E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2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37360" y="2240280"/>
            <a:ext cx="2103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</a:rPr>
              <a:t>Understand the Problem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971800"/>
            <a:ext cx="28346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>
                <a:solidFill>
                  <a:srgbClr val="E8DEF0"/>
                </a:solidFill>
              </a:rPr>
              <a:t>Start with the real problem, not with code.
Break it down into its essential parts.
A PRD becomes a structured execution
graph — the problem is now visible.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33088" y="2926080"/>
            <a:ext cx="292608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800" b="1">
                <a:solidFill>
                  <a:srgbClr val="E05A9E"/>
                </a:solidFill>
              </a:rP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34840" y="2011680"/>
            <a:ext cx="3383280" cy="2377440"/>
          </a:xfrm>
          <a:prstGeom prst="roundRect">
            <a:avLst/>
          </a:prstGeom>
          <a:solidFill>
            <a:srgbClr val="2A0A40"/>
          </a:solidFill>
          <a:ln w="12700">
            <a:solidFill>
              <a:srgbClr val="5A2A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709160" y="2286000"/>
            <a:ext cx="594360" cy="594360"/>
          </a:xfrm>
          <a:prstGeom prst="ellipse">
            <a:avLst/>
          </a:prstGeom>
          <a:solidFill>
            <a:srgbClr val="E05A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2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40680" y="2240280"/>
            <a:ext cx="2103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</a:rPr>
              <a:t>Structure the Solution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09160" y="2971800"/>
            <a:ext cx="28346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>
                <a:solidFill>
                  <a:srgbClr val="E8DEF0"/>
                </a:solidFill>
              </a:rPr>
              <a:t>AI follows the graph, phase by phase.
9 stages from ANALYZE to LISTENING.
Every task is traceable, validated,
and connected to the original problem.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36408" y="2926080"/>
            <a:ext cx="292608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800" b="1">
                <a:solidFill>
                  <a:srgbClr val="E05A9E"/>
                </a:solidFill>
              </a:rPr>
              <a:t>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38160" y="2011680"/>
            <a:ext cx="3383280" cy="2377440"/>
          </a:xfrm>
          <a:prstGeom prst="roundRect">
            <a:avLst/>
          </a:prstGeom>
          <a:solidFill>
            <a:srgbClr val="2A0A40"/>
          </a:solidFill>
          <a:ln w="12700">
            <a:solidFill>
              <a:srgbClr val="5A2A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412480" y="2286000"/>
            <a:ext cx="594360" cy="594360"/>
          </a:xfrm>
          <a:prstGeom prst="ellipse">
            <a:avLst/>
          </a:prstGeom>
          <a:solidFill>
            <a:srgbClr val="7B2D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2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0" y="2240280"/>
            <a:ext cx="2103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</a:rPr>
              <a:t>Deliver with Confidence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12480" y="2971800"/>
            <a:ext cx="28346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>
                <a:solidFill>
                  <a:srgbClr val="E8DEF0"/>
                </a:solidFill>
              </a:rPr>
              <a:t>The solution stays aligned with the
problem at every step. No drift, no
guesswork. Humans and AI agents
work together through the graph.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71600" y="4709160"/>
            <a:ext cx="9418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i="1">
                <a:solidFill>
                  <a:srgbClr val="F08CC0"/>
                </a:solidFill>
              </a:rPr>
              <a:t>"The real architecture is not in the code — it's in how deeply you understood the problem."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557784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9D4EDD"/>
                </a:solidFill>
              </a:rPr>
              <a:t>mcp-graph-workflow</a:t>
            </a:r>
            <a:r>
              <a:rPr sz="1100">
                <a:solidFill>
                  <a:srgbClr val="E8DEF0"/>
                </a:solidFill>
              </a:rPr>
              <a:t>  —  Problem-first AI development  ·  Local-first  ·  Open Source  ·  Made in Brazil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86800" y="5577840"/>
            <a:ext cx="3200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9988AA"/>
                </a:solidFill>
              </a:rPr>
              <a:t>Diego Nogueira  ·  @NogueiraDev_</a:t>
            </a:r>
          </a:p>
        </p:txBody>
      </p:sp>
      <p:sp>
        <p:nvSpPr>
          <p:cNvPr id="25" name="Rectangle 24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E05A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